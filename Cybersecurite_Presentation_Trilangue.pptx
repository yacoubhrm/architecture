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CYBERSÉCURITÉ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3F2FD"/>
                </a:solidFill>
                <a:latin typeface="Calibri"/>
              </a:rPr>
              <a:t>الأمن السيبراني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BDEFB"/>
                </a:solidFill>
                <a:latin typeface="Calibri"/>
              </a:rPr>
              <a:t>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Histoire • Avancées • Risques humains • Conseils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3F2FD"/>
                </a:solidFill>
                <a:latin typeface="Calibri"/>
              </a:rPr>
              <a:t>التاريخ • التطورات • المخاطر البشرية • نصائح عملية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BDEFB"/>
                </a:solidFill>
                <a:latin typeface="Calibri"/>
              </a:rPr>
              <a:t>History • Advances • Human Risks • Practical Tips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Présentation accessible — profil non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F00"/>
                </a:solidFill>
                <a:latin typeface="Calibri"/>
              </a:rPr>
              <a:t>Réalisé par : Yacoub HOURMATALLA  &amp;  Ismail SIDIYA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Qu'est-ce que la cybersécurité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ما هو الأمن السيبراني؟  |  What is Cybersecurity?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🛡️ Protéger nos informations numériques — comme un cadenas sur vos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🛡️ حماية معلوماتنا الرقمية — كقفل على بياناتكم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🛡️ Protecting our digital information — like a lock on your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🌐 Tout ce qui est connecté à Internet peut être attaqué : téléphones, ordinateurs, maisons intelligentes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🌐 كل ما يتصل بالإنترنت قد يتعرض للهجوم: الهواتف، الحاسوب، المنازل الذكية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🌐 Anything connected to the Internet can be attacked: phones, computers, smart homes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👤 95 % des failles viennent de l'erreur humaine — pas seulement des pirates informatiques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👤 ٩٥٪ من الثغرات ناتجة عن خطأ بشري — وليس فقط المخترقين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👤 95% of breaches come from human error — not just hackers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📜 Histoire de la Cybersécurité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3F2FD"/>
                </a:solidFill>
                <a:latin typeface="Calibri"/>
              </a:rPr>
              <a:t>📜 تاريخ الأمن السيبراني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DEFB"/>
                </a:solidFill>
                <a:latin typeface="Calibri"/>
              </a:rPr>
              <a:t>📜 History of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Des années 1970 à aujourd'hui — les grandes étapes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Les grandes dates (1970–2000)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التواريخ المهمة (١٩٧٠–٢٠٠٠)  |  Key Dates (1970–2000)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1971 — Creeper : premier « virus » expérimental (message : « Je suis Creeper, attrape-moi ! »)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١٩٧١ — كريبر: أول «فيروس» تجريبي (رسالة: «أنا كريبر، أمسكني!»)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1971 — Creeper: first experimental 'virus' (message: 'I'm Creeper, catch me!')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1988 — Morris Worm : 6 000 ordinateurs infectés → naissance des CERT (équipes d'alerte)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١٩٨٨ — دودة موريس: ٦٠٠٠ حاسوب مصاب → ولادة فرق CERT للتنبيه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1988 — Morris Worm: 6,000 computers infected → birth of CERT alert teams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1990s — Internet grand public : e-mails, mots de passe, premiers antivirus grand 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٩٠٠ات — الإنترنت للجميع: البريد الإلكتروني، كلمات المرور، أول برامج مكافحة الفيروسات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1990s — Public Internet: email, passwords, first consumer antivirus software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Les grandes dates (2000–2025)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التواريخ المهمة (٢٠٠٠–٢٠٢٥)  |  Key Dates (2000–2025)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2000 — ILOVEYOU : 50 millions d'infections via un simple e-mail d'amour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٢٠٠٠ — ILOVEYOU: ٥٠ مليون إصابة عبر بريد إلكتروني بسيط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2000 — ILOVEYOU: 50 million infections via a simple love email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2010s — Ransomware (rançongiciel) : vos fichiers sont bloqués, on exige une rançon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٢٠١٠ات — برامج الفدية: ملفاتكم محجوزة ويطلبون فدية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2010s — Ransomware: your files are locked, attackers demand payment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2020s — IA, télétravail, objets connectés : de nouvelles surfaces d'attaque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٢٠٢٠ات — الذكاء الاصطناعي، العمل عن بُعد، إنترنت الأشياء: أسطح هجوم جديدة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2020s — AI, remote work, IoT: new attack surfaces emerge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🚀 Avancées Importantes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3F2FD"/>
                </a:solidFill>
                <a:latin typeface="Calibri"/>
              </a:rPr>
              <a:t>🚀 التطورات المهمة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DEFB"/>
                </a:solidFill>
                <a:latin typeface="Calibri"/>
              </a:rPr>
              <a:t>🚀 Important Advances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Les avancées qui nous protègent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التطورات التي تحمينا  |  Advances That Protect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🔐 Chiffrement (Encryption) : vos messages transformés en code illisible sans la clé — comme une langue secrète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🔐 التشفير: رسائلكم تتحول إلى رمز غير مقروء بدون المفتاح — كلغة سرية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🔐 Encryption: your messages become unreadable code without the key — like a secret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🔑 Authentification à deux facteurs (2FA) : mot de passe + code SMS = double verrou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🔑 المصادقة الثنائية: كلمة المرور + رمز SMS = قفل مزدوج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🔑 Two-Factor Authentication (2FA): password + SMS code = double 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🤖 IA défensive : détecte les comportements suspects avant qu'il ne soit trop tard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🤖 الذكاء الاصطناعي الدفاعي: يكتشف السلوك المشبوه قبل فوات الأوان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🤖 Defensive AI: detects suspicious behavior before it's too 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💡 Concepts Techniques Simplifiés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3F2FD"/>
                </a:solidFill>
                <a:latin typeface="Calibri"/>
              </a:rPr>
              <a:t>💡 مفاهيم تقنية مبسطة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DEFB"/>
                </a:solidFill>
                <a:latin typeface="Calibri"/>
              </a:rPr>
              <a:t>💡 Simplified Technical Concepts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Le vocabulaire expliqué simplement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المفردات التقنية ببساطة  |  Technical Vocabulary Made Simple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🎣 Phishing (hameçonnage) : un faux e-mail qui vous piège — comme un pêcheur avec un appât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🎣 التصيّد: بريد مزيف يوقعكم في الفخ — كصياد يستخدم طُعمًا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🎣 Phishing: a fake email that traps you — like a fisherman using bait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🦠 Malware (logiciel malveillant) : programme nuisible — virus, trojan, spyware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🦠 البرمجيات الخبيثة: برنامج ضار — فيروس، حصان طروادة، برامج تجسس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🦠 Malware: harmful software — viruses, trojans, spyware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🔓 Zero-day : faille inconnue même par le fabricant — aucune protection disponible encore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🔓 ثغرة يوم الصفر: ثغرة غير معروفة حتى للمصنع — لا حماية متاحة بعد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🔓 Zero-day: unknown flaw even to the manufacturer — no patch available yet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👤 Les Risques Humains — Le Facteur N°1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3F2FD"/>
                </a:solidFill>
                <a:latin typeface="Calibri"/>
              </a:rPr>
              <a:t>👤 المخاطر البشرية — العامل الأول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DEFB"/>
                </a:solidFill>
                <a:latin typeface="Calibri"/>
              </a:rPr>
              <a:t>👤 Human Risks — The #1 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Pourquoi nous restons la cible préférée des attaquants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Quand l'humain devient la faille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عندما يصبح الإنسان الثغرة  |  When Humans Become the Weak Link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😰 Ingénierie sociale : manipulation psychologique — peur, urgence, confiance abusée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😰 الهندسة الاجتماعية: التلاعب النفسي — الخوف، الاستعجال، إساءة الثقة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😰 Social engineering: psychological manipulation — fear, urgency, abused trust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📱 Partage de mots de passe, clics impulsifs, Wi-Fi public non sécurisé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📱 مشاركة كلمات المرور، النقرات الاندفاعية، شبكات Wi-Fi عامة غير آمنة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📱 Password sharing, impulsive clicks, unsecured public Wi-Fi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🏢 Erreur interne : 60 %+ des incidents impliquent un employé (volontairement ou par ignorance)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🏢 خطأ داخلي: أكثر من ٦٠٪ من الحوادث يشارك فيها موظف (عمدًا أو بجهل)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🏢 Insider incidents: 60%+ involve an employee (intentionally or unknowingly)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⚠️ Nouveaux Risques (2024–2026)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3F2FD"/>
                </a:solidFill>
                <a:latin typeface="Calibri"/>
              </a:rPr>
              <a:t>⚠️ المخاطر الجديدة (٢٠٢٤–٢٠٢٦)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DEFB"/>
                </a:solidFill>
                <a:latin typeface="Calibri"/>
              </a:rPr>
              <a:t>⚠️ Emerging Risks (2024–2026)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Les menaces de demain, déjà là aujourd'hui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تهديدات الغد، موجودة اليوم  |  Tomorrow's Threats, Already Here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🤖 Deepfakes &amp; IA malveillante : fausses voix/vidéos de votre patron ou famille pour vous arnaquer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🤖 التزييف العميق والذكاء الاصطناعي الخبيث: أصوات/فيديوهات مزيفة لمديركم أو عائلتكم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🤖 Deepfakes &amp; malicious AI: fake voice/video of your boss or family to scam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☁️ Attaques sur le cloud &amp; chaîne d'approvisionnement : pirater un fournisseur = accès à des milliers de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☁️ هجمات السحابة وسلسلة التوريد: اختراق مورد = وصول لآلاف العملاء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☁️ Cloud &amp; supply chain attacks: hack one vendor = access to thousands of clients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🏠 IoT &amp; voitures connectées : frigo, caméra, voiture = nouvelles portes d'entrée pour les pirates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🏠 إنترنت الأشياء والسيارات المتصلة: الثلاجة، الكamera، السيارة = مداخل جديدة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🏠 IoT &amp; connected cars: fridge, camera, car = new entry points for attackers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✅ Grands Conseils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3F2FD"/>
                </a:solidFill>
                <a:latin typeface="Calibri"/>
              </a:rPr>
              <a:t>✅ نصائح مهمة يجب تذكرها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DEFB"/>
                </a:solidFill>
                <a:latin typeface="Calibri"/>
              </a:rPr>
              <a:t>✅ Essential Tips to Remember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 règles d'or de la cybersécurité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١٠ قواعد ذهبية للأمن السيبراني  |  10 Golden Rules of Cybersecurity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1️⃣ Mots de passe uniques &amp; longs (12+ caractères) — utilisez un gestionnaire de mots de passe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1️⃣ كلمات مرور فريدة وطويلة (١٢+ حرفًا) — استخدموا مدير كلمات مرور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1️⃣ Unique, long passwords (12+ chars) — use a password manager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2️⃣ Activez la 2FA partout  |  3️⃣ Méfiez-vous des liens et pièces jointes inattendues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2️⃣ فعّلوا المصادقة الثنائية  |  3️⃣ احذروا الروابط والمرفقات غير المتوقعة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2️⃣ Enable 2FA everywhere  |  3️⃣ Beware unexpected links &amp; attachments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4️⃣ Mettez à jour vos appareils  |  5️⃣ Sauvegardez vos données (règle 3-2-1)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4️⃣ حدّثوا أجهزتكم  |  5️⃣ احفظوا نسخًا احتياطية (قاعدة ٣-٢-١)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4️⃣ Update your devices  |  5️⃣ Back up your data (3-2-1 rule)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 règles d'or (suite)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١٠ قواعد ذهبية (تابع)  |  10 Golden Rules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6️⃣ Ne partagez jamais vos mots de passe  |  7️⃣ Vérifiez l'identité avant de transférer de l'argent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6️⃣ لا تشاركوا كلمات المرور  |  7️⃣ تحققوا من الهوية قبل تحويل المال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6️⃣ Never share passwords  |  7️⃣ Verify identity before sending money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8️⃣ Utilisez un VPN sur Wi-Fi public  |  9️⃣ Signalez les e-mails suspects à votre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8️⃣ استخدموا VPN على Wi-Fi العام  |  9️⃣ أبلغوا عن رسائل مشبوهة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8️⃣ Use VPN on public Wi-Fi  |  9️⃣ Report suspicious emails to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09728" cy="1097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4771"/>
                </a:solidFill>
                <a:latin typeface="Calibri"/>
              </a:rPr>
              <a:t>🔟 Restez informé &amp; formez-vous — la cybersécurité est l'affaire de TOUS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🔟 ابقوا مطلعين وتدربوا — الأمن السيبراني مسؤولية الجميع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🔟 Stay informed &amp; trained — cybersecurity is EVERYONE's responsibility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🎯 Quiz Interactif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3F2FD"/>
                </a:solidFill>
                <a:latin typeface="Calibri"/>
              </a:rPr>
              <a:t>🎯 اختبار تفاعلي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DEFB"/>
                </a:solidFill>
                <a:latin typeface="Calibri"/>
              </a:rPr>
              <a:t>🎯 Interactive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Cliquez pour révéler chaque réponse  |  انقر لإظهار الإجابة  |  Click to reveal each answer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Quiz 1  |  اختبار 1  |  Quiz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Calibri"/>
              </a:rPr>
              <a:t>❓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4771"/>
                </a:solidFill>
                <a:latin typeface="Calibri"/>
              </a:rPr>
              <a:t>Quel pourcentage des failles de sécurité est causé par l'erreur humaine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ما نسبة الثغرات الأمنية الناتجة عن الخطأ البشري؟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percentage of security breaches are caused by human error?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6F00"/>
                </a:solidFill>
                <a:latin typeface="Calibri"/>
              </a:rPr>
              <a:t>👉 Cliquez pour révéler la réponse  |  انقر لإظهار الإجابة  |  Click to reveal 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✅ Réponse  |  الإجابة  | 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4771"/>
                </a:solidFill>
                <a:latin typeface="Calibri"/>
              </a:rPr>
              <a:t>Environ 95 % — l'humain reste le maillon faible numéro 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حوالي ٩٥٪ — الإنسان يبقى حلقة الوصل الأضعف.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About 95% — humans remain the #1 weak link.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Bhvr>
                <p:cTn id="2" dur="indefinite" nodeType="mainSeq"/>
                <p:tgtEl>
                  <p:sldTgt/>
                </p:tgtEl>
              </p:cBhvr>
              <p:childTnLst>
                <p:par>
                  <p:cTn id="3" fill="hold">
                    <p:stCondLst>
                      <p:cond delay="indefinite"/>
                    </p:stCondLst>
                    <p:childTnLst>
                      <p:par>
                        <p:cTn id="4" presetID="1" presetClass="entr" presetSubtype="0" fill="hold" nodeType="clickEffect">
                          <p:stCondLst>
                            <p:cond delay="0"/>
                          </p:stCondLst>
                          <p:childTnLst>
                            <p:set>
                              <p:cBhvr>
                                <p:cTn id="5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0"/>
                                </p:tgtEl>
                                <p:attributeName>style.visibility</p:attributeName>
                              </p:cBhvr>
                              <p:to>
                                <p:strVal val="visible"/>
                              </p:to>
                            </p:set>
                          </p:childTnLst>
                        </p:cTn>
                      </p:par>
                    </p:childTnLst>
                  </p:cTn>
                </p:par>
              </p:childTnLst>
            </p:seq>
            <p:seq concurrent="1" nextAc="seek">
              <p:cBhvr>
                <p:cTn id="3" dur="indefinite" nodeType="mainSeq"/>
                <p:tgtEl>
                  <p:sldTgt/>
                </p:tgtEl>
              </p:cBhvr>
              <p:childTnLst>
                <p:par>
                  <p:cTn id="4" fill="hold">
                    <p:stCondLst>
                      <p:cond delay="indefinite"/>
                    </p:stCondLst>
                    <p:childTnLst>
                      <p:par>
                        <p:cTn id="5" presetID="1" presetClass="entr" presetSubtype="0" fill="hold" nodeType="clickEffect">
                          <p:stCondLst>
                            <p:cond delay="0"/>
                          </p:stCondLst>
                          <p:childTnLst>
                            <p:set>
                              <p:cBhvr>
                                <p:cTn id="6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1"/>
                                </p:tgtEl>
                                <p:attributeName>style.visibility</p:attributeName>
                              </p:cBhvr>
                              <p:to>
                                <p:strVal val="visible"/>
                              </p:to>
                            </p:set>
                          </p:childTnLst>
                        </p:cTn>
                      </p:par>
                    </p:childTnLst>
                  </p:cTn>
                </p:par>
              </p:childTn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Quiz 2  |  اختبار 2  |  Quiz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Calibri"/>
              </a:rPr>
              <a:t>❓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4771"/>
                </a:solidFill>
                <a:latin typeface="Calibri"/>
              </a:rPr>
              <a:t>Qu'est-ce que le « phishing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ما هو «التصيّد الإلكتروني»؟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is 'phishing'?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6F00"/>
                </a:solidFill>
                <a:latin typeface="Calibri"/>
              </a:rPr>
              <a:t>👉 Cliquez pour révéler la réponse  |  انقر لإظهار الإجابة  |  Click to reveal 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✅ Réponse  |  الإجابة  | 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4771"/>
                </a:solidFill>
                <a:latin typeface="Calibri"/>
              </a:rPr>
              <a:t>Un e-mail ou message frauduleux conçu pour voler vos identifiants — comme un appât de pêche.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بريد أو رسالة احتيالية لسرقة بياناتكم — كطُعم صيد.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A fraudulent email or message designed to steal your credentials — like fishing bait.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Bhvr>
                <p:cTn id="2" dur="indefinite" nodeType="mainSeq"/>
                <p:tgtEl>
                  <p:sldTgt/>
                </p:tgtEl>
              </p:cBhvr>
              <p:childTnLst>
                <p:par>
                  <p:cTn id="3" fill="hold">
                    <p:stCondLst>
                      <p:cond delay="indefinite"/>
                    </p:stCondLst>
                    <p:childTnLst>
                      <p:par>
                        <p:cTn id="4" presetID="1" presetClass="entr" presetSubtype="0" fill="hold" nodeType="clickEffect">
                          <p:stCondLst>
                            <p:cond delay="0"/>
                          </p:stCondLst>
                          <p:childTnLst>
                            <p:set>
                              <p:cBhvr>
                                <p:cTn id="5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0"/>
                                </p:tgtEl>
                                <p:attributeName>style.visibility</p:attributeName>
                              </p:cBhvr>
                              <p:to>
                                <p:strVal val="visible"/>
                              </p:to>
                            </p:set>
                          </p:childTnLst>
                        </p:cTn>
                      </p:par>
                    </p:childTnLst>
                  </p:cTn>
                </p:par>
              </p:childTnLst>
            </p:seq>
            <p:seq concurrent="1" nextAc="seek">
              <p:cBhvr>
                <p:cTn id="3" dur="indefinite" nodeType="mainSeq"/>
                <p:tgtEl>
                  <p:sldTgt/>
                </p:tgtEl>
              </p:cBhvr>
              <p:childTnLst>
                <p:par>
                  <p:cTn id="4" fill="hold">
                    <p:stCondLst>
                      <p:cond delay="indefinite"/>
                    </p:stCondLst>
                    <p:childTnLst>
                      <p:par>
                        <p:cTn id="5" presetID="1" presetClass="entr" presetSubtype="0" fill="hold" nodeType="clickEffect">
                          <p:stCondLst>
                            <p:cond delay="0"/>
                          </p:stCondLst>
                          <p:childTnLst>
                            <p:set>
                              <p:cBhvr>
                                <p:cTn id="6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1"/>
                                </p:tgtEl>
                                <p:attributeName>style.visibility</p:attributeName>
                              </p:cBhvr>
                              <p:to>
                                <p:strVal val="visible"/>
                              </p:to>
                            </p:set>
                          </p:childTnLst>
                        </p:cTn>
                      </p:par>
                    </p:childTnLst>
                  </p:cTn>
                </p:par>
              </p:childTn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Quiz 3  |  اختبار 3  |  Quiz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Calibri"/>
              </a:rPr>
              <a:t>❓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4771"/>
                </a:solidFill>
                <a:latin typeface="Calibri"/>
              </a:rPr>
              <a:t>Qu'est-ce qu'un « ransomware » (rançongiciel)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ما هو «برنامج الفدية»؟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is 'ransomware'?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6F00"/>
                </a:solidFill>
                <a:latin typeface="Calibri"/>
              </a:rPr>
              <a:t>👉 Cliquez pour révéler la réponse  |  انقر لإظهار الإجابة  |  Click to reveal 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✅ Réponse  |  الإجابة  | 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4771"/>
                </a:solidFill>
                <a:latin typeface="Calibri"/>
              </a:rPr>
              <a:t>Un logiciel qui bloque vos fichiers et exige une rançon pour les débloquer.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برنامج يحجب ملفاتكم ويطلب فدية لإطلاقها.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Software that locks your files and demands payment to unlock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Bhvr>
                <p:cTn id="2" dur="indefinite" nodeType="mainSeq"/>
                <p:tgtEl>
                  <p:sldTgt/>
                </p:tgtEl>
              </p:cBhvr>
              <p:childTnLst>
                <p:par>
                  <p:cTn id="3" fill="hold">
                    <p:stCondLst>
                      <p:cond delay="indefinite"/>
                    </p:stCondLst>
                    <p:childTnLst>
                      <p:par>
                        <p:cTn id="4" presetID="1" presetClass="entr" presetSubtype="0" fill="hold" nodeType="clickEffect">
                          <p:stCondLst>
                            <p:cond delay="0"/>
                          </p:stCondLst>
                          <p:childTnLst>
                            <p:set>
                              <p:cBhvr>
                                <p:cTn id="5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0"/>
                                </p:tgtEl>
                                <p:attributeName>style.visibility</p:attributeName>
                              </p:cBhvr>
                              <p:to>
                                <p:strVal val="visible"/>
                              </p:to>
                            </p:set>
                          </p:childTnLst>
                        </p:cTn>
                      </p:par>
                    </p:childTnLst>
                  </p:cTn>
                </p:par>
              </p:childTnLst>
            </p:seq>
            <p:seq concurrent="1" nextAc="seek">
              <p:cBhvr>
                <p:cTn id="3" dur="indefinite" nodeType="mainSeq"/>
                <p:tgtEl>
                  <p:sldTgt/>
                </p:tgtEl>
              </p:cBhvr>
              <p:childTnLst>
                <p:par>
                  <p:cTn id="4" fill="hold">
                    <p:stCondLst>
                      <p:cond delay="indefinite"/>
                    </p:stCondLst>
                    <p:childTnLst>
                      <p:par>
                        <p:cTn id="5" presetID="1" presetClass="entr" presetSubtype="0" fill="hold" nodeType="clickEffect">
                          <p:stCondLst>
                            <p:cond delay="0"/>
                          </p:stCondLst>
                          <p:childTnLst>
                            <p:set>
                              <p:cBhvr>
                                <p:cTn id="6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1"/>
                                </p:tgtEl>
                                <p:attributeName>style.visibility</p:attributeName>
                              </p:cBhvr>
                              <p:to>
                                <p:strVal val="visible"/>
                              </p:to>
                            </p:set>
                          </p:childTnLst>
                        </p:cTn>
                      </p:par>
                    </p:childTnLst>
                  </p:cTn>
                </p:par>
              </p:childTn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Quiz 4  |  اختبار 4  |  Quiz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Calibri"/>
              </a:rPr>
              <a:t>❓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4771"/>
                </a:solidFill>
                <a:latin typeface="Calibri"/>
              </a:rPr>
              <a:t>Que signifie « 2FA » (authentification à deux facteurs)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ماذا تعني «المصادقة الثنائية»؟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does '2FA' (Two-Factor Authentication)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6F00"/>
                </a:solidFill>
                <a:latin typeface="Calibri"/>
              </a:rPr>
              <a:t>👉 Cliquez pour révéler la réponse  |  انقر لإظهار الإجابة  |  Click to reveal 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✅ Réponse  |  الإجابة  | 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4771"/>
                </a:solidFill>
                <a:latin typeface="Calibri"/>
              </a:rPr>
              <a:t>Deux preuves d'identité : mot de passe + code SMS ou empreinte — double sécurité.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دليلان على الهوية: كلمة المرور + رمز أو بصمة — أمان مزدوج.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Two proofs of identity: password + SMS code or fingerprint — double security.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Bhvr>
                <p:cTn id="2" dur="indefinite" nodeType="mainSeq"/>
                <p:tgtEl>
                  <p:sldTgt/>
                </p:tgtEl>
              </p:cBhvr>
              <p:childTnLst>
                <p:par>
                  <p:cTn id="3" fill="hold">
                    <p:stCondLst>
                      <p:cond delay="indefinite"/>
                    </p:stCondLst>
                    <p:childTnLst>
                      <p:par>
                        <p:cTn id="4" presetID="1" presetClass="entr" presetSubtype="0" fill="hold" nodeType="clickEffect">
                          <p:stCondLst>
                            <p:cond delay="0"/>
                          </p:stCondLst>
                          <p:childTnLst>
                            <p:set>
                              <p:cBhvr>
                                <p:cTn id="5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0"/>
                                </p:tgtEl>
                                <p:attributeName>style.visibility</p:attributeName>
                              </p:cBhvr>
                              <p:to>
                                <p:strVal val="visible"/>
                              </p:to>
                            </p:set>
                          </p:childTnLst>
                        </p:cTn>
                      </p:par>
                    </p:childTnLst>
                  </p:cTn>
                </p:par>
              </p:childTnLst>
            </p:seq>
            <p:seq concurrent="1" nextAc="seek">
              <p:cBhvr>
                <p:cTn id="3" dur="indefinite" nodeType="mainSeq"/>
                <p:tgtEl>
                  <p:sldTgt/>
                </p:tgtEl>
              </p:cBhvr>
              <p:childTnLst>
                <p:par>
                  <p:cTn id="4" fill="hold">
                    <p:stCondLst>
                      <p:cond delay="indefinite"/>
                    </p:stCondLst>
                    <p:childTnLst>
                      <p:par>
                        <p:cTn id="5" presetID="1" presetClass="entr" presetSubtype="0" fill="hold" nodeType="clickEffect">
                          <p:stCondLst>
                            <p:cond delay="0"/>
                          </p:stCondLst>
                          <p:childTnLst>
                            <p:set>
                              <p:cBhvr>
                                <p:cTn id="6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1"/>
                                </p:tgtEl>
                                <p:attributeName>style.visibility</p:attributeName>
                              </p:cBhvr>
                              <p:to>
                                <p:strVal val="visible"/>
                              </p:to>
                            </p:set>
                          </p:childTnLst>
                        </p:cTn>
                      </p:par>
                    </p:childTnLst>
                  </p:cTn>
                </p:par>
              </p:childTn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Quiz 5  |  اختبار 5  |  Quiz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Calibri"/>
              </a:rPr>
              <a:t>❓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4771"/>
                </a:solidFill>
                <a:latin typeface="Calibri"/>
              </a:rPr>
              <a:t>Quel est le risque émergent lié à l'intelligence artificielle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ما الخطر الناشئ المرتبط بالذكاء الاصطناعي؟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is an emerging risk related to artificial intelligence?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6F00"/>
                </a:solidFill>
                <a:latin typeface="Calibri"/>
              </a:rPr>
              <a:t>👉 Cliquez pour révéler la réponse  |  انقر لإظهار الإجابة  |  Click to reveal 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✅ Réponse  |  الإجابة  | 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4771"/>
                </a:solidFill>
                <a:latin typeface="Calibri"/>
              </a:rPr>
              <a:t>Les deepfakes : fausses vidéos/voix ultra-réalistes pour arnaquer ou usurper une identité.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التزييف العميق: فيديوهات/أصوات مزيفة واقعية للاحتيال أو انتحال الهوية.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Deepfakes: ultra-realistic fake videos/voices to scam or impersonate someone.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Bhvr>
                <p:cTn id="2" dur="indefinite" nodeType="mainSeq"/>
                <p:tgtEl>
                  <p:sldTgt/>
                </p:tgtEl>
              </p:cBhvr>
              <p:childTnLst>
                <p:par>
                  <p:cTn id="3" fill="hold">
                    <p:stCondLst>
                      <p:cond delay="indefinite"/>
                    </p:stCondLst>
                    <p:childTnLst>
                      <p:par>
                        <p:cTn id="4" presetID="1" presetClass="entr" presetSubtype="0" fill="hold" nodeType="clickEffect">
                          <p:stCondLst>
                            <p:cond delay="0"/>
                          </p:stCondLst>
                          <p:childTnLst>
                            <p:set>
                              <p:cBhvr>
                                <p:cTn id="5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0"/>
                                </p:tgtEl>
                                <p:attributeName>style.visibility</p:attributeName>
                              </p:cBhvr>
                              <p:to>
                                <p:strVal val="visible"/>
                              </p:to>
                            </p:set>
                          </p:childTnLst>
                        </p:cTn>
                      </p:par>
                    </p:childTnLst>
                  </p:cTn>
                </p:par>
              </p:childTnLst>
            </p:seq>
            <p:seq concurrent="1" nextAc="seek">
              <p:cBhvr>
                <p:cTn id="3" dur="indefinite" nodeType="mainSeq"/>
                <p:tgtEl>
                  <p:sldTgt/>
                </p:tgtEl>
              </p:cBhvr>
              <p:childTnLst>
                <p:par>
                  <p:cTn id="4" fill="hold">
                    <p:stCondLst>
                      <p:cond delay="indefinite"/>
                    </p:stCondLst>
                    <p:childTnLst>
                      <p:par>
                        <p:cTn id="5" presetID="1" presetClass="entr" presetSubtype="0" fill="hold" nodeType="clickEffect">
                          <p:stCondLst>
                            <p:cond delay="0"/>
                          </p:stCondLst>
                          <p:childTnLst>
                            <p:set>
                              <p:cBhvr>
                                <p:cTn id="6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1"/>
                                </p:tgtEl>
                                <p:attributeName>style.visibility</p:attributeName>
                              </p:cBhvr>
                              <p:to>
                                <p:strVal val="visible"/>
                              </p:to>
                            </p:set>
                          </p:childTnLst>
                        </p:cTn>
                      </p:par>
                    </p:childTnLst>
                  </p:cTn>
                </p:par>
              </p:childTn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🎯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3F2FD"/>
                </a:solidFill>
                <a:latin typeface="Calibri"/>
              </a:rPr>
              <a:t>🎯 الخلاصة  |  🎯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• La cybersécurité n'est pas réservée aux experts — c'est l'affaire de chacun.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الأمن السيبراني ليس للخبراء فقط — إنه مسؤولية كل فرد.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  <a:latin typeface="Calibri"/>
              </a:rPr>
              <a:t>Cybersecurity is not just for experts — it's everyone's responsibility.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• L'histoire montre une course permanente entre attaquants et défenseurs.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644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التاريخ يُظهر سباقًا دائمًا بين المهاجمين والمدافعين.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93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  <a:latin typeface="Calibri"/>
              </a:rPr>
              <a:t>History shows a permanent race between attackers and defenders.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• Le facteur humain reste le risque n°1 — la formation change tout.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العامل البشري يبقى الخطر الأول — التدريب يغيّر كل شيء.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  <a:latin typeface="Calibri"/>
              </a:rPr>
              <a:t>The human factor remains risk #1 — training makes all the difference.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• Adoptez les bonnes habitudes dès aujourd'hui : mots de passe, 2FA, prudence.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504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  <a:latin typeface="Calibri"/>
              </a:rPr>
              <a:t>تبنّوا العادات الجيدة اليوم: كلمات المرور، المصادقة الثنائية، الحذر.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79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  <a:latin typeface="Calibri"/>
              </a:rPr>
              <a:t>Adopt good habits today: passwords, 2FA, caution.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486400"/>
            <a:ext cx="85039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Merci pour votre attention !  |  شكرًا لانتباهكم  |  Thank you for your attention!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F00"/>
                </a:solidFill>
                <a:latin typeface="Calibri"/>
              </a:rPr>
              <a:t>Réalisé par : Yacoub HOURMATALLA  &amp;  Ismail SIDIYA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